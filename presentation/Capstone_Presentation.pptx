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Real Estate Price Analysis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p>
            <a:r>
              <a:t>Capstone Project: Real-World Business Analysis</a:t>
            </a:r>
          </a:p>
          <a:p>
            <a:r>
              <a:t>Prepared for Final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Presentation Agenda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Business Problem &amp; Objectives</a:t>
            </a:r>
          </a:p>
          <a:p>
            <a:r>
              <a:t>Data Collection &amp; Preparation</a:t>
            </a:r>
          </a:p>
          <a:p>
            <a:r>
              <a:t>Exploratory Data Analysis (EDA)</a:t>
            </a:r>
          </a:p>
          <a:p>
            <a:r>
              <a:t>Statistical Hypothesis Testing</a:t>
            </a:r>
          </a:p>
          <a:p>
            <a:r>
              <a:t>Advanced Predictive Modeling</a:t>
            </a:r>
          </a:p>
          <a:p>
            <a:r>
              <a:t>Business Recommendations &amp; ROI</a:t>
            </a:r>
          </a:p>
          <a:p>
            <a:r>
              <a:t>Implementation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Business Problem Statement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Challenge: Real estate valuation is often inconsistent and biased.</a:t>
            </a:r>
          </a:p>
          <a:p>
            <a:r>
              <a:t>Objective: Build a data-driven engine to predict property prices.</a:t>
            </a:r>
          </a:p>
          <a:p>
            <a:r>
              <a:t>Goal: Reach &gt;90% prediction accuracy using physical &amp; geographical data.</a:t>
            </a:r>
          </a:p>
          <a:p>
            <a:r>
              <a:t>Value: Support investors in making multi-million dollar acquisition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Overview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Dataset Size: 300 property records.</a:t>
            </a:r>
          </a:p>
          <a:p>
            <a:r>
              <a:t>Features: Area (sq ft), Bedrooms, Bathrooms, Age, Location, Property Type.</a:t>
            </a:r>
          </a:p>
          <a:p>
            <a:r>
              <a:t>Target Variable: Price (Avg Market Value: $24,883,658).</a:t>
            </a:r>
          </a:p>
          <a:p>
            <a:r>
              <a:t>Locations: City Center, Suburb, and Rural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Preparation &amp; Quality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Missing Values: 0 missing entries (High data integrity).</a:t>
            </a:r>
          </a:p>
          <a:p>
            <a:r>
              <a:t>Duplicates: All unique records verified.</a:t>
            </a:r>
          </a:p>
          <a:p>
            <a:r>
              <a:t>Cleaning: Validated numeric ranges for Price and Area.</a:t>
            </a:r>
          </a:p>
          <a:p>
            <a:r>
              <a:t>Feature Engineering: One-Hot Encoding for categorical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EDA: Structural Drivers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Area vs Price: Linear relationship found (Correlation &gt; 0.8).</a:t>
            </a:r>
          </a:p>
          <a:p>
            <a:r>
              <a:t>Bedrooms: Primary driver of price escalation in residential units.</a:t>
            </a:r>
          </a:p>
          <a:p>
            <a:r>
              <a:t>Property Type: Villas command a significant premium over Apartments.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EDA: Location Premium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City Center: Highest median prices due to demand and proximity.</a:t>
            </a:r>
          </a:p>
          <a:p>
            <a:r>
              <a:t>Suburb: Preferred for balanced price-to-area ratio.</a:t>
            </a:r>
          </a:p>
          <a:p>
            <a:r>
              <a:t>Rural: High area properties with lowest price per sq 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Statistical Significance (ANOVA)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Method: One-Way ANOVA (Location vs. Price).</a:t>
            </a:r>
          </a:p>
          <a:p>
            <a:r>
              <a:t>P-Value: 3.33e-22 (Extremely Significant).</a:t>
            </a:r>
          </a:p>
          <a:p>
            <a:r>
              <a:t>Conclusion: Location is a scientifically proven factor in price determination.</a:t>
            </a:r>
          </a:p>
          <a:p>
            <a:r>
              <a:t>Confidence Level: 99.9%.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Predictive Modeling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Algorithm: Multivariate Linear Regression.</a:t>
            </a:r>
          </a:p>
          <a:p>
            <a:r>
              <a:t>Accuracy (R2 Score): 0.94 (Excellent performance).</a:t>
            </a:r>
          </a:p>
          <a:p>
            <a:r>
              <a:t>Testing Split: 80% Training / 20% Unseen Testing Data.</a:t>
            </a:r>
          </a:p>
          <a:p>
            <a:r>
              <a:t>Outcome: Reliable for calculating 'Fair Market Value'.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What Drives the Price?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1. Bedrooms: Strongest positive impact (~$1.58M per room).</a:t>
            </a:r>
          </a:p>
          <a:p>
            <a:r>
              <a:t>2. Location_City Center: Major price multiplier.</a:t>
            </a:r>
          </a:p>
          <a:p>
            <a:r>
              <a:t>3. Age: Strongest negative driver ($82k loss per year of age).</a:t>
            </a:r>
          </a:p>
          <a:p>
            <a:r>
              <a:t>4. Area: Consistent baseline contributor.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/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Actionable Recommendations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Strategic Pivot: Focus on City Center acquisitions for high-end flipping.</a:t>
            </a:r>
          </a:p>
          <a:p>
            <a:r>
              <a:t>Renovation: Invest in 15+ year old properties to 'reset' the Age factor.</a:t>
            </a:r>
          </a:p>
          <a:p>
            <a:r>
              <a:t>Inventory: Prioritize 4+ bedroom layouts to maximize ROI.</a:t>
            </a:r>
          </a:p>
          <a:p>
            <a:r>
              <a:t>Pricing: Implement the 94% accurate model for setting listing prices.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Implementation Roadmap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Phase 1 (Months 1-2): Integration of the model into the sales dashboard.</a:t>
            </a:r>
          </a:p>
          <a:p>
            <a:r>
              <a:t>Phase 2 (Months 3-4): Re-evaluation of portfolio for renovation potential.</a:t>
            </a:r>
          </a:p>
          <a:p>
            <a:r>
              <a:t>Phase 3 (Months 6+): Expanding dataset to include school and crime stats.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Technical Documentation</a:t>
            </a: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Jupyter Notebooks: Full cleaning and analysis pipelines included.</a:t>
            </a:r>
          </a:p>
          <a:p>
            <a:r>
              <a:t>Reports: Executive and Technical PDF reports generated.</a:t>
            </a:r>
          </a:p>
          <a:p>
            <a:r>
              <a:t>Repository: GitHub ready for professional audit.</a:t>
            </a:r>
          </a:p>
          <a:p>
            <a:r>
              <a:t>Code Quality: PEP8 compliant Python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/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Project Conclusion</a:t>
            </a: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Project successfully met all technical and business objectives.</a:t>
            </a:r>
          </a:p>
          <a:p>
            <a:r>
              <a:t>Provided a 94% accurate tool for real estate valuation.</a:t>
            </a:r>
          </a:p>
          <a:p>
            <a:r>
              <a:t>Findings offer a clear roadmap for maximizing business profit.</a:t>
            </a:r>
          </a:p>
          <a:p>
            <a:r>
              <a:t>Final Status: Submission Ready.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/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Thank You</a:t>
            </a:r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Any Questions?</a:t>
            </a:r>
          </a:p>
          <a:p>
            <a:r>
              <a:t>Presenter: [</a:t>
            </a:r>
            <a:r>
              <a:rPr lang="en-US"/>
              <a:t>R</a:t>
            </a:r>
            <a:r>
              <a:rPr lang="en-US"/>
              <a:t>a</a:t>
            </a:r>
            <a:r>
              <a:rPr lang="en-US"/>
              <a:t>z</a:t>
            </a:r>
            <a:r>
              <a:rPr lang="en-US"/>
              <a:t>i</a:t>
            </a:r>
            <a:r>
              <a:rPr lang="en-US"/>
              <a:t>y</a:t>
            </a:r>
            <a:r>
              <a:rPr lang="en-US"/>
              <a:t>a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a</a:t>
            </a:r>
            <a:r>
              <a:rPr lang="en-US"/>
              <a:t>k</a:t>
            </a:r>
            <a:r>
              <a:rPr lang="en-US"/>
              <a:t>k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n</a:t>
            </a:r>
            <a:r>
              <a:rPr lang="en-US"/>
              <a:t>a</a:t>
            </a:r>
            <a:r>
              <a:rPr lang="en-US"/>
              <a:t>i</a:t>
            </a:r>
            <a:r>
              <a:rPr lang="en-US"/>
              <a:t>k</a:t>
            </a:r>
            <a:r>
              <a:t>]</a:t>
            </a:r>
            <a:endParaRPr altLang="en-US" lang="zh-CN"/>
          </a:p>
          <a:p>
            <a:r>
              <a:t>Role: Data Analyst</a:t>
            </a:r>
          </a:p>
          <a:p>
            <a:r>
              <a:t>Project: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CPH2223</dc:creator>
  <cp:lastModifiedBy>Steve Canny</cp:lastModifiedBy>
  <dcterms:created xsi:type="dcterms:W3CDTF">2013-01-26T22:14:16Z</dcterms:created>
  <dcterms:modified xsi:type="dcterms:W3CDTF">2026-02-20T02:38:28Z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c8a85ad5f19842a5833f8064a6ea294b</vt:lpwstr>
  </property>
</Properties>
</file>